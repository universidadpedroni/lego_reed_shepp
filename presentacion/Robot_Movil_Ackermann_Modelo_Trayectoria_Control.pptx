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313" r:id="rId12"/>
    <p:sldId id="314" r:id="rId13"/>
    <p:sldId id="270" r:id="rId14"/>
    <p:sldId id="271" r:id="rId15"/>
    <p:sldId id="272" r:id="rId16"/>
    <p:sldId id="276" r:id="rId17"/>
    <p:sldId id="278" r:id="rId18"/>
    <p:sldId id="283" r:id="rId19"/>
    <p:sldId id="284" r:id="rId20"/>
    <p:sldId id="286" r:id="rId21"/>
    <p:sldId id="290" r:id="rId22"/>
    <p:sldId id="293" r:id="rId23"/>
    <p:sldId id="295" r:id="rId24"/>
    <p:sldId id="297" r:id="rId25"/>
    <p:sldId id="300" r:id="rId26"/>
    <p:sldId id="304" r:id="rId27"/>
    <p:sldId id="307" r:id="rId28"/>
    <p:sldId id="309" r:id="rId29"/>
    <p:sldId id="310" r:id="rId30"/>
    <p:sldId id="31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404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Presentación del proyecto integrador: un auto LEGO al que se le reemplazó el firmware para que genere y siga trayectorias de Dubins y Reeds-Shepp. El objetivo de hoy es recorrer todos los componentes de hardware y software, el simulador, y entender por qué cada pieza está donde está.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Hoja de ruta. La presentación va del modelo físico al control, después a la planificación, y cierra con la implementación real y el simulador. Cada bloque tiene su diagrama.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Distinción clave para el alumno: el planificador no sabe de motores ni sensores; el controlador no sabe de Reeds-Shepp. Cada uno resuelve su parte. La restricción no holónoma es la razón por la que necesitamos curvas de Dubins/Reeds-Shepp y no simplemente líneas rectas.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valor pedagógico: es hardware barato pero con todos los ingredientes de un sistema de control embebido serio. La doble implementación MATLAB/MicroPython es un patrón profesional que vamos a justificar más adelante.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Estos cuatro números definen el vehículo. La velocidad se mantiene constante: el control no regula velocidad, regula posición a lo largo del camino y rumbo. El radio mínimo de 80 cm tiene una historia que vemos en la diapositiva de parámetros.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Visión de pájaro. La PC corre el dashboard (HTML + Chart.js) y habla por Bluetooth Low Energy con el hub. El hub corre main_rs.py, que comanda tres motores y lee la IMU. El protocolo de texto (PATH, PID, START, STOP / telemetría) lo vemos en la sección de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idea de fondo: Ackermann garantiza rodadura sin deslizamiento lateral. Eso es lo que nos permite después usar un modelo cinemático simple en lugar de uno dinámico con fuerzas y fricción.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ICR está sobre la prolongación del eje trasero. Cada rueda delantera es perpendicular a la recta que la une con el ICR; por eso la interior, más cerca del ICR, gira un ángulo mayor. La condición cot(δo) − cot(δi) = t/L es lo que garantiza que ambas compartan ese ICR.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Conviene mostrar que la geometría de Ackermann y el modelo de bicicleta están conectados: δ del modelo de bicicleta es el ángulo de la rueda equivalente. El límite físico de 20° es el puente entre este modelo y el planificador.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modelo de bicicleta es el caballito de batalla. Con tres ecuaciones describe todo lo que necesitamos. Importante: es cinemático, no dinámico; alcanza porque el auto va lento y constante.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Concepto importante para un curso de control: no siempre hace falta diseñar un controlador MIMO completo. Una buena elección de las variables medidas puede desacoplar el problema. Acá la posición y el rumbo se miden con sensores distintos y eso permite dos PI separados.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Diagrama completo. A la izquierda el generador de referencias. En el centro los dos controladores PI. La planta es el vehículo, una sola caja MIMO. A la derecha los sensores que cierran cada lazo. Hay versión .drawio editable de este diagrama.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Lazo de posición en detalle. La referencia es la distancia que debería haber recorrido; la realimentación es la odometría de los encoders. El PI entrega una potencia de tracción, que se satura antes de llegar al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Repaso de PID aplicado. P solo deja offset; I lo elimina. D se descarta por ruido y porque la planta es lenta y benigna. Es una decisión típica en control de movimiento: muchísimos lazos reales son PI, no 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Acá se ve el PI tal cual corre en el hub. Destacar el += del integral y el factor gear en el comando de dirección: cuando el auto va marcha atrás, el signo de la corrección de dirección se invierte. Las ganancias se pueden cambiar desde el dashboard sin reprogramar.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es la diapositiva central de la sección, y el alumno tiene que entenderla bien. position_reference es una rampa: crece v centímetros por segundo. steering_reference integra la curvatura: en un arco crece, en una recta se queda quieto. El factor 1/r_turn_min es la curvatura del arco. Todo el generador de referencias son estas dos líneas más la compuerta del if. Es elegante: dos integradores de Euler.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figura sale de simular las líneas 251-252. Detalle importante: r_pos se reinicia en cada segmento (por eso los encoders se resetean por segmento), mientras que r_head se acumula durante todo el ensayo (por eso la IMU se resetea sólo una vez, al principio). Esa asimetría está en el código y es coherente.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Panorama de sensores. La IMU da rumbo y alimenta el lazo de dirección; los encoders dan avance y alimentan el de posición. Notar la diferencia en el reset: la IMU una vez, los encoders por segmento, coherente con cómo se generan las referencias.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Acá se ve cómo el ángulo de los encoders se vuelve centímetros. El factor de conversión se calibró midiendo. Promediar los dos encoders es un filtrado simple. Y el reset por segmento es lo que hace que la odometría sea coherente con r_pos, que también se reinicia por segmento.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 de actuadores. La salida de los PI son estos dos números que van a steer() y drive_power(). Resaltar stalled(): es una red de seguridad que veremos otra vez en la sección de robustez.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Dubins vs Reeds-Shepp. La diferencia es una sola: la marcha atrás. Dubins es sólo hacia adelante; Reeds-Shepp permite reversar y por eso puede maniobrar en espacios chicos, a costa de los cusps donde el auto se detiene e invierte. El proyecto usa Reeds-Shepp, que contiene a Dubins.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algoritmo prueba las 12 familias y sus 4 variantes (reflejos y timeflips, para cubrir todos los casos sin escribir todas las fórmulas). De todos los caminos válidos se queda con el de menor longitud total. Simple y efectivo. Después se desnormaliza al radio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trayectoria la calculó el algoritmo reeds_shepp.py del repositorio. Muestra un caso con marcha atrás. Al verificarla noté un detalle de convención de signo entre el simulador MATLAB y el código del hub: lo comento aparte. La trayectoria llega exacto a (120,60,−90°).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bucle de control, simplificado. Cuatro pasos por ciclo, 1 ms de período. Resaltar el orden: primero seguridad (STOP, stall), después el control. Es el patrón estándar de firmware de control. La función maneja un segmento; otra capa la llama segmento por segmento.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Robustez. En un embebido lo que importa no es sólo el caso feliz, sino qué pasa cuando algo falla. Acá hay watchdog, detección de stall, parada de emergencia y manejo de memoria. Y todo ensayo cierra con un estado explícito: nunca queda en un limbo.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Validación. El dashboard ya calcula RMS y error máximo de posición y rumbo. El mensaje para el alumno: un criterio de validación tiene que ser medible. 'Anda bien' no sirve; un RMS de tantos centímetros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Limitaciones, dichas con honestidad. Varias son buenos trabajos futuros para los alumnos. La de la convención de signo la detecté verificando la simulación: stream_plan en el hub y el simulador MATLAB integran el rumbo con signos opuestos; no rompe nada porque cada uno es coherente consigo mismo, pero conviene unificarlo y dejarlo documentado.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Referencias. El paper original de Reeds y Shepp de 1990 está en el repositorio (el PDF pjm-v145-n2-p06-s.pdf). La decodificación del encoder salió del Práctico de Laboratorio N°2. El resto es documentación de Pybricks y la implementación de referencia que se tomó como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7.w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8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FB2C7"/>
                </a:solidFill>
                <a:latin typeface="Calibri"/>
              </a:rPr>
              <a:t>ROBÓTICA  ·  SISTEMAS DE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102412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Control y seguimiento de trayectorias
en un vehículo con geometría de Ackermann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3310128"/>
            <a:ext cx="1920240" cy="41148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58444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C6D4E0"/>
                </a:solidFill>
                <a:latin typeface="Calibri"/>
              </a:rPr>
              <a:t>Auto LEGO Technic 42160 (Audi RS e-tron GT)  ·  trayectorias de Reeds-Shepp  ·  MicroPython + Pybricks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FB2C7"/>
                </a:solidFill>
                <a:latin typeface="Calibri"/>
              </a:rPr>
              <a:t>Material de cátedra  ·  Robótica y Sistemas de Control  ·  Ing. Juan P. Pedroni  · 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CONTENIDOS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Qué vamos a recorrer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9728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Introducción: el problema y la arquitectura del sistema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Modelado del vehículo: Ackermann, modelo de bicicleta y dinámica del vehículo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El sistema de control visto como un sistema MIMO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Control PI: teoría e implementación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Generación de las referencias en tiempo de ejecución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Sensores: rumbo (IMU) y encoders incrementales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Actuadores: los motores LEGO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Generación de trayectorias de Reeds-Shepp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Simulación: el prototipo en MATLAB y su importancia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Implementación: código, dashboard y robustez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Validación, limitaciones y 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094E176-8B5E-BFB7-B677-247B6FE3C3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" t="28406" r="11289" b="18261"/>
          <a:stretch>
            <a:fillRect/>
          </a:stretch>
        </p:blipFill>
        <p:spPr bwMode="auto">
          <a:xfrm>
            <a:off x="5596128" y="2382758"/>
            <a:ext cx="6355289" cy="388088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El problema: seguir una trayectoria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6903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Seguir una trayectoria es lograr que un vehículo real recorra un camino geométrico planificado, a pesar de errores de modelo, deslizamiento y juego mecánico.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Aparecen dos preguntas separadas:</a:t>
            </a:r>
          </a:p>
          <a:p>
            <a:pPr marL="310896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B06618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C6B79"/>
                </a:solidFill>
                <a:latin typeface="Calibri"/>
              </a:rPr>
              <a:t>¿Qué camino? — problema de planificación de trayectorias.</a:t>
            </a:r>
          </a:p>
          <a:p>
            <a:pPr marL="310896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B06618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C6B79"/>
                </a:solidFill>
                <a:latin typeface="Calibri"/>
              </a:rPr>
              <a:t>¿Cómo recorrerlo? — problema de control realimentado.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En este proyecto el camino lo da el planificador de Reeds-Shepp y el seguimiento lo resuelven dos lazos de control PI.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El vehículo tiene geometría de Ackermann: no puede girar en el lugar ni desplazarse de costado (restricción no holónoma).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783080"/>
            <a:ext cx="3886200" cy="41605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783080"/>
            <a:ext cx="109728" cy="4160520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7" y="212140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B66E"/>
                </a:solidFill>
                <a:latin typeface="Calibri"/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505456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Planificar y controlar son dos problemas distintos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3767328"/>
            <a:ext cx="31729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DBE5"/>
                </a:solidFill>
                <a:latin typeface="Calibri"/>
              </a:rPr>
              <a:t>Primero se decide el camino (geometría). Después se lo sigue con realimentación. Mezclarlos lleva a sistemas frágiles; separarlos los hace entendibles y robustos.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Del concepto teórico al auto LEGO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6903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Punto de partida: el set comercial LEGO Technic 42160, el Audi RS e-tron GT, con su hub programable y sus motores.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Se reemplazó el comportamiento original por código propio escrito en MicroPython sobre el entorno Pybricks.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El auto genera y sigue trayectorias de Dubins y de Reeds-Shepp entre poses (x, y, rumbo) que define el usuario.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Doble implementación, y eso es deliberado:</a:t>
            </a:r>
          </a:p>
          <a:p>
            <a:pPr marL="310896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B06618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C6B79"/>
                </a:solidFill>
                <a:latin typeface="Calibri"/>
              </a:rPr>
              <a:t>Prototipo y validación del algoritmo en MATLAB.</a:t>
            </a:r>
          </a:p>
          <a:p>
            <a:pPr marL="310896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B06618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C6B79"/>
                </a:solidFill>
                <a:latin typeface="Calibri"/>
              </a:rPr>
              <a:t>Port del mismo algoritmo a MicroPython para correr en el hub.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Un dashboard web monitorea el ensayo en vivo y permite ajustar las ganancias.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783080"/>
            <a:ext cx="3886200" cy="41605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783080"/>
            <a:ext cx="109728" cy="4160520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7" y="212140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B66E"/>
                </a:solidFill>
                <a:latin typeface="Calibri"/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505456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Un banco de pruebas real, accesible y reproducible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3767328"/>
            <a:ext cx="31729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DBE5"/>
                </a:solidFill>
                <a:latin typeface="Calibri"/>
              </a:rPr>
              <a:t>El LEGO permite tocar de verdad todos los conceptos de la cátedra: modelo, sensores, actuadores, control y planificación, sin el costo de un vehículo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El vehículo físico: parámetros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5C6B79"/>
                </a:solidFill>
                <a:latin typeface="Calibri"/>
              </a:rPr>
              <a:t>Valores definidos en vehicleConstants.py — son las constantes que cierran el modelo.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331720"/>
            <a:ext cx="2562606" cy="2788920"/>
          </a:xfrm>
          <a:prstGeom prst="rect">
            <a:avLst/>
          </a:prstGeom>
          <a:solidFill>
            <a:srgbClr val="F1F4F7"/>
          </a:solidFill>
          <a:ln w="1270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2562606" cy="91440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788920"/>
            <a:ext cx="219684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1D3557"/>
                </a:solidFill>
                <a:latin typeface="Georgia"/>
              </a:rPr>
              <a:t>24 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04487"/>
            <a:ext cx="21968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43441"/>
                </a:solidFill>
                <a:latin typeface="Calibri"/>
              </a:rPr>
              <a:t>Batalla  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325112"/>
            <a:ext cx="216027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B79"/>
                </a:solidFill>
                <a:latin typeface="Calibri"/>
              </a:rPr>
              <a:t>distancia entre ejes delantero y trasero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3853" y="2331720"/>
            <a:ext cx="2562606" cy="2788920"/>
          </a:xfrm>
          <a:prstGeom prst="rect">
            <a:avLst/>
          </a:prstGeom>
          <a:solidFill>
            <a:srgbClr val="F1F4F7"/>
          </a:solidFill>
          <a:ln w="1270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3853" y="2331720"/>
            <a:ext cx="2562606" cy="91440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86734" y="2788920"/>
            <a:ext cx="219684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1D3557"/>
                </a:solidFill>
                <a:latin typeface="Georgia"/>
              </a:rPr>
              <a:t>20°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6734" y="3904487"/>
            <a:ext cx="21968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43441"/>
                </a:solidFill>
                <a:latin typeface="Calibri"/>
              </a:rPr>
              <a:t>Ángulo máx.  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5022" y="4325112"/>
            <a:ext cx="216027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B79"/>
                </a:solidFill>
                <a:latin typeface="Calibri"/>
              </a:rPr>
              <a:t>giro máximo de las ruedas delanteras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0779" y="2331720"/>
            <a:ext cx="2562606" cy="2788920"/>
          </a:xfrm>
          <a:prstGeom prst="rect">
            <a:avLst/>
          </a:prstGeom>
          <a:solidFill>
            <a:srgbClr val="F1F4F7"/>
          </a:solidFill>
          <a:ln w="1270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0779" y="2331720"/>
            <a:ext cx="2562606" cy="91440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3659" y="2788920"/>
            <a:ext cx="219684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1D3557"/>
                </a:solidFill>
                <a:latin typeface="Georgia"/>
              </a:rPr>
              <a:t>39 cm/s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59" y="3904487"/>
            <a:ext cx="21968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43441"/>
                </a:solidFill>
                <a:latin typeface="Calibri"/>
              </a:rPr>
              <a:t>Velocidad  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1947" y="4325112"/>
            <a:ext cx="216027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B79"/>
                </a:solidFill>
                <a:latin typeface="Calibri"/>
              </a:rPr>
              <a:t>velocidad lineal, constante durante el ensayo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7705" y="2331720"/>
            <a:ext cx="2562606" cy="2788920"/>
          </a:xfrm>
          <a:prstGeom prst="rect">
            <a:avLst/>
          </a:prstGeom>
          <a:solidFill>
            <a:srgbClr val="F1F4F7"/>
          </a:solidFill>
          <a:ln w="1270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7705" y="2331720"/>
            <a:ext cx="2562606" cy="91440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0585" y="2788920"/>
            <a:ext cx="219684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1D3557"/>
                </a:solidFill>
                <a:latin typeface="Georgia"/>
              </a:rPr>
              <a:t>80 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0585" y="3904487"/>
            <a:ext cx="21968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43441"/>
                </a:solidFill>
                <a:latin typeface="Calibri"/>
              </a:rPr>
              <a:t>Radio mínimo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8874" y="4325112"/>
            <a:ext cx="216027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B79"/>
                </a:solidFill>
                <a:latin typeface="Calibri"/>
              </a:rPr>
              <a:t>radio de giro de diseño (r_turn_min)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Arquitectura del sistema</a:t>
            </a:r>
          </a:p>
        </p:txBody>
      </p:sp>
      <p:pic>
        <p:nvPicPr>
          <p:cNvPr id="5" name="Picture 4" descr="d1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594" y="1627632"/>
            <a:ext cx="7964907" cy="4270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1616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C6B79"/>
                </a:solidFill>
                <a:latin typeface="Calibri"/>
              </a:rPr>
              <a:t>Dashboard en la PC ↔ enlace BLE ↔ hub LEGO ↔ motores y sensores.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¿Por qué geometría de Ackermann?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6903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En una curva, cada rueda recorre un círculo de radio distinto alrededor de un mismo centro: el centro instantáneo de rotación (ICR).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Si las dos ruedas delanteras giraran el mismo ángulo, una de ellas arrastraría de costado: deslizamiento, desgaste y trayectoria impredecible.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La geometría de Ackermann hace que la rueda interior gire más que la exterior, de modo que ambas rueden sin arrastre.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Es la solución que usan los autos reales desde hace más de un siglo.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C6E8F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43441"/>
                </a:solidFill>
                <a:latin typeface="Calibri"/>
              </a:rPr>
              <a:t>Para el control nos interesa la consecuencia: existe un único ICR y, por lo tanto, un radio de giro bien definido para cada ángulo de dirección.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783080"/>
            <a:ext cx="3886200" cy="41605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783080"/>
            <a:ext cx="109728" cy="4160520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7" y="212140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B66E"/>
                </a:solidFill>
                <a:latin typeface="Calibri"/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505456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Rodadura pura: condición de un buen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3767328"/>
            <a:ext cx="31729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DBE5"/>
                </a:solidFill>
                <a:latin typeface="Calibri"/>
              </a:rPr>
              <a:t>Si las ruedas no deslizan, el movimiento es puramente geométrico y predecible. Sobre esa hipótesis se construye todo el modelo cinemático.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Geometría de dirección de Ackermann</a:t>
            </a:r>
          </a:p>
        </p:txBody>
      </p:sp>
      <p:pic>
        <p:nvPicPr>
          <p:cNvPr id="9" name="Picture 8" descr="fig_ackerma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537" y="1572768"/>
            <a:ext cx="979322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1616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C6B79"/>
                </a:solidFill>
                <a:latin typeface="Calibri"/>
              </a:rPr>
              <a:t>Vista superior: ángulos interior y exterior, ICR y radio de giro.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E938B8-E4E8-A113-F1FC-3BC1EBFDD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239" y="2162864"/>
            <a:ext cx="4305286" cy="316242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A3EAAD9-C295-F4F7-149B-986A23CE3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963" y="1923940"/>
            <a:ext cx="4443798" cy="3458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Ecuaciones de la geometría de Ackermann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6903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C6E8F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43441"/>
                </a:solidFill>
                <a:latin typeface="Calibri"/>
              </a:rPr>
              <a:t>Condición de Ackermann:  </a:t>
            </a:r>
            <a:r>
              <a:rPr sz="1600" b="1" i="0">
                <a:solidFill>
                  <a:srgbClr val="1D3557"/>
                </a:solidFill>
                <a:latin typeface="Consolas"/>
              </a:rPr>
              <a:t>cot δo − cot δi = t / L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C6E8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43441"/>
                </a:solidFill>
                <a:latin typeface="Calibri"/>
              </a:rPr>
              <a:t>Relaciona el ángulo exterior δo, el interior δi, la trocha t y la batalla L.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C6E8F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43441"/>
                </a:solidFill>
                <a:latin typeface="Calibri"/>
              </a:rPr>
              <a:t>Ángulo de dirección equivalente:  </a:t>
            </a:r>
            <a:r>
              <a:rPr sz="1600" b="1" i="0">
                <a:solidFill>
                  <a:srgbClr val="1D3557"/>
                </a:solidFill>
                <a:latin typeface="Consolas"/>
              </a:rPr>
              <a:t>tan δ = L / R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C6E8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43441"/>
                </a:solidFill>
                <a:latin typeface="Calibri"/>
              </a:rPr>
              <a:t>δ es el ángulo de una rueda virtual sobre el eje longitudinal; R es el radio del círculo que describe el eje trasero.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C6E8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43441"/>
                </a:solidFill>
                <a:latin typeface="Calibri"/>
              </a:rPr>
              <a:t>Cuanto mayor el ángulo δ, menor el radio R: el vehículo gira más cerrado.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C6E8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43441"/>
                </a:solidFill>
                <a:latin typeface="Calibri"/>
              </a:rPr>
              <a:t>El ángulo físico está limitado (ψmáx = 20°): de ahí sale un radio de giro mínimo, que es lo que el planificador no puede violar.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783080"/>
            <a:ext cx="3886200" cy="41605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783080"/>
            <a:ext cx="109728" cy="4160520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7" y="212140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B66E"/>
                </a:solidFill>
                <a:latin typeface="Calibri"/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505456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De la geometría al límite del planificador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3767328"/>
            <a:ext cx="31729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DBE5"/>
                </a:solidFill>
                <a:latin typeface="Calibri"/>
              </a:rPr>
              <a:t>El ángulo máximo de las ruedas fija el radio de giro mínimo. Reeds-Shepp sólo puede usar arcos de ese radio: la geometría restringe la planificación.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Modelo cinemático de bicicleta</a:t>
            </a:r>
          </a:p>
        </p:txBody>
      </p:sp>
      <p:pic>
        <p:nvPicPr>
          <p:cNvPr id="13" name="Picture 12" descr="fig_bi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349" y="1705356"/>
            <a:ext cx="4526280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35040"/>
            <a:ext cx="6720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C6B79"/>
                </a:solidFill>
                <a:latin typeface="Calibri"/>
              </a:rPr>
              <a:t>Modelo de bicicleta: el estándar para vehículos tipo Ackermann.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41148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Las dos ruedas de cada eje se condensan en una sola sobre el eje longitudinal: el modelo de bicicleta.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El estado del vehículo es la terna (x, y, θ): posición y rumbo.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43441"/>
                </a:solidFill>
                <a:latin typeface="Calibri"/>
              </a:rPr>
              <a:t>Ecuaciones:  </a:t>
            </a:r>
            <a:r>
              <a:rPr sz="1500" b="0" i="0">
                <a:solidFill>
                  <a:srgbClr val="1D3557"/>
                </a:solidFill>
                <a:latin typeface="Consolas"/>
              </a:rPr>
              <a:t>ẋ = v·cosθ,  ẏ = v·senθ,  θ̇ = (v/L)·tanδ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Las entradas son la velocidad v y el ángulo de dirección δ.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Modelo cinemático: describe geometría y velocidades, no fuerzas. Válido con rodadura pura y velocidad moderada — el caso del auto LEGO.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4956048"/>
            <a:ext cx="4096512" cy="10241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4956048"/>
            <a:ext cx="91440" cy="1024128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4956048"/>
            <a:ext cx="370332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Este modelo es el que usan tanto el planificador como el generador de referencias del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C6E8F"/>
                </a:solidFill>
                <a:latin typeface="Calibri"/>
              </a:rPr>
              <a:t>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D3557"/>
                </a:solidFill>
                <a:latin typeface="Georgia"/>
              </a:rPr>
              <a:t>Dinámica del vehículo: ecuaciones de movimiento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6903720" cy="3385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dirty="0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El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estado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del auto es la terna (x, y, θ):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posición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del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eje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trasero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y rumbo.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dirty="0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A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velocidad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v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sobre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un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círculo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de radio r, la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velocidad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angular es ω = v / r.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dirty="0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Ecuaciones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movimiento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(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modelo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cinemático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):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endParaRPr lang="es-AR" sz="1350" b="0" dirty="0">
              <a:solidFill>
                <a:srgbClr val="1D3557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endParaRPr lang="es-AR" sz="1350" dirty="0">
              <a:solidFill>
                <a:srgbClr val="1D3557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endParaRPr lang="es-AR" sz="1350" b="0" dirty="0">
              <a:solidFill>
                <a:srgbClr val="1D3557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endParaRPr lang="es-AR" sz="1350" dirty="0">
              <a:solidFill>
                <a:srgbClr val="1D3557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endParaRPr lang="es-AR" sz="1350" b="0" dirty="0">
              <a:solidFill>
                <a:srgbClr val="1D3557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endParaRPr lang="es-AR" sz="1350" dirty="0">
              <a:solidFill>
                <a:srgbClr val="1D3557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endParaRPr sz="1350" b="0" dirty="0">
              <a:solidFill>
                <a:srgbClr val="1D3557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dirty="0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Entradas: la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velocidad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v y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ángulo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dirección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δ; Ackermann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fija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r_turn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dirty="0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Es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sistema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Dubins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: 3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controles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—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izquierda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derecha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, recto —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sobre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estas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ecuaciones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783080"/>
            <a:ext cx="3886200" cy="41605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783080"/>
            <a:ext cx="109728" cy="4160520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7" y="212140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B66E"/>
                </a:solidFill>
                <a:latin typeface="Calibri"/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505456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Georgia"/>
              </a:rPr>
              <a:t>Tres ecuaciones describen todo el movimiento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3767328"/>
            <a:ext cx="31729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>
                <a:solidFill>
                  <a:srgbClr val="CFDBE5"/>
                </a:solidFill>
                <a:latin typeface="Calibri"/>
              </a:rPr>
              <a:t>Con (x, y, θ) y las entradas (v, δ) el modelo predice la pose en cada instante. Sobre él se apoyan el planificador y el generador de referencias.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260DE2CF-4BFF-2A07-D732-ADC1714F95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47395"/>
              </p:ext>
            </p:extLst>
          </p:nvPr>
        </p:nvGraphicFramePr>
        <p:xfrm>
          <a:off x="2643372" y="2696268"/>
          <a:ext cx="2155693" cy="1605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888840" progId="Equation.DSMT4">
                  <p:embed/>
                </p:oleObj>
              </mc:Choice>
              <mc:Fallback>
                <p:oleObj name="Equation" r:id="rId2" imgW="11937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43372" y="2696268"/>
                        <a:ext cx="2155693" cy="16053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C6E8F"/>
                </a:solidFill>
                <a:latin typeface="Calibri"/>
              </a:rPr>
              <a:t>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D3557"/>
                </a:solidFill>
                <a:latin typeface="Georgia"/>
              </a:rPr>
              <a:t>Del modelo continuo al paso discreto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6903720" cy="3591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dirty="0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El hub no integra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ecuaciones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avanza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estado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paso a paso,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en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cada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tick.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dirty="0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Ecuaciones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actualización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, con paso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Δs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= v ·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Δt</a:t>
            </a:r>
            <a:r>
              <a:rPr lang="es-AR" sz="1500" b="0" dirty="0">
                <a:solidFill>
                  <a:srgbClr val="243441"/>
                </a:solidFill>
                <a:latin typeface="Calibri"/>
              </a:rPr>
              <a:t>, integración de Euler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:</a:t>
            </a:r>
            <a:endParaRPr lang="es-AR" sz="1500" b="0" dirty="0">
              <a:solidFill>
                <a:srgbClr val="243441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endParaRPr lang="es-AR" sz="1500" dirty="0">
              <a:solidFill>
                <a:srgbClr val="243441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endParaRPr lang="es-AR" sz="1500" b="0" dirty="0">
              <a:solidFill>
                <a:srgbClr val="243441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endParaRPr lang="es-AR" sz="1500" dirty="0">
              <a:solidFill>
                <a:srgbClr val="243441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endParaRPr lang="es-AR" sz="1500" b="0" dirty="0">
              <a:solidFill>
                <a:srgbClr val="243441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endParaRPr sz="1500" b="0" dirty="0">
              <a:solidFill>
                <a:srgbClr val="243441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dirty="0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Cada paso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mueve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auto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sobre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una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recta: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una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aproximación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lineal de un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sistema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no lineal.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dirty="0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Cuanto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más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chico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paso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Δs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más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fina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la curva (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como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dibujar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un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círculo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con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muchos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puntos).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dirty="0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Es lo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que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hacen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generador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referencias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y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simulador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integrar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estas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tres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43441"/>
                </a:solidFill>
                <a:latin typeface="Calibri"/>
              </a:rPr>
              <a:t>líneas</a:t>
            </a:r>
            <a:r>
              <a:rPr sz="1500" b="0" dirty="0">
                <a:solidFill>
                  <a:srgbClr val="243441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783080"/>
            <a:ext cx="3886200" cy="41605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783080"/>
            <a:ext cx="109728" cy="4160520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7" y="212140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B66E"/>
                </a:solidFill>
                <a:latin typeface="Calibri"/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505456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Georgia"/>
              </a:rPr>
              <a:t>Integrar es sumar pasos chicos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3767328"/>
            <a:ext cx="31729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>
                <a:solidFill>
                  <a:srgbClr val="CFDBE5"/>
                </a:solidFill>
                <a:latin typeface="Calibri"/>
              </a:rPr>
              <a:t>La dinámica continua se vuelve una suma discreta. Con paso de 1 ms y v = 39 cm/s el error de discretización es despreciable.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B5481DBD-6B3E-AE41-D7E2-689E5BF859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259789"/>
              </p:ext>
            </p:extLst>
          </p:nvPr>
        </p:nvGraphicFramePr>
        <p:xfrm>
          <a:off x="2428087" y="2412999"/>
          <a:ext cx="3389706" cy="1481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1015920" progId="Equation.DSMT4">
                  <p:embed/>
                </p:oleObj>
              </mc:Choice>
              <mc:Fallback>
                <p:oleObj name="Equation" r:id="rId2" imgW="232380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8087" y="2412999"/>
                        <a:ext cx="3389706" cy="14818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SISTEMA DE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El control visto como un sistema MIMO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6903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C6E8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43441"/>
                </a:solidFill>
                <a:latin typeface="Calibri"/>
              </a:rPr>
              <a:t>El vehículo es una planta MIMO: múltiples entradas, múltiples salidas.</a:t>
            </a:r>
          </a:p>
          <a:p>
            <a:pPr marL="310896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B0661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C6B79"/>
                </a:solidFill>
                <a:latin typeface="Calibri"/>
              </a:rPr>
              <a:t>Entradas: comando de tracción y comando de dirección.</a:t>
            </a:r>
          </a:p>
          <a:p>
            <a:pPr marL="310896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B0661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C6B79"/>
                </a:solidFill>
                <a:latin typeface="Calibri"/>
              </a:rPr>
              <a:t>Salidas: posición recorrida y rumbo.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C6E8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43441"/>
                </a:solidFill>
                <a:latin typeface="Calibri"/>
              </a:rPr>
              <a:t>Físicamente los lazos están acoplados: girar la dirección cambia el rumbo y, a la vez, curva el recorrido.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C6E8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43441"/>
                </a:solidFill>
                <a:latin typeface="Calibri"/>
              </a:rPr>
              <a:t>El diseño elige medir variables que desacoplan el problema:</a:t>
            </a:r>
          </a:p>
          <a:p>
            <a:pPr marL="310896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B0661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C6B79"/>
                </a:solidFill>
                <a:latin typeface="Calibri"/>
              </a:rPr>
              <a:t>La posición se mide como arco recorrido (encoders).</a:t>
            </a:r>
          </a:p>
          <a:p>
            <a:pPr marL="310896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B06618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C6B79"/>
                </a:solidFill>
                <a:latin typeface="Calibri"/>
              </a:rPr>
              <a:t>El rumbo se mide como ángulo absoluto (IMU).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C6E8F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43441"/>
                </a:solidFill>
                <a:latin typeface="Calibri"/>
              </a:rPr>
              <a:t>Con esa elección, el MIMO se trata como dos lazos SISO casi independientes.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783080"/>
            <a:ext cx="3886200" cy="41605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783080"/>
            <a:ext cx="109728" cy="4160520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7" y="212140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B66E"/>
                </a:solidFill>
                <a:latin typeface="Calibri"/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505456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El acoplamiento se resuelve en la elección de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3767328"/>
            <a:ext cx="31729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DBE5"/>
                </a:solidFill>
                <a:latin typeface="Calibri"/>
              </a:rPr>
              <a:t>Medir el arco recorrido y el rumbo por separado convierte un problema MIMO acoplado en dos lazos simples. La geometría del giro se traslada al generador de referencias, no al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SISTEMA DE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Diagrama de bloques MIMO</a:t>
            </a:r>
          </a:p>
        </p:txBody>
      </p:sp>
      <p:pic>
        <p:nvPicPr>
          <p:cNvPr id="5" name="Picture 4" descr="d4_mi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535" y="1627632"/>
            <a:ext cx="8401025" cy="4270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1616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C6B79"/>
                </a:solidFill>
                <a:latin typeface="Calibri"/>
              </a:rPr>
              <a:t>Generador de referencias → dos lazos PI → planta Ackermann → sensores → realimentación.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SISTEMA DE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Lazo de control de posición</a:t>
            </a:r>
          </a:p>
        </p:txBody>
      </p:sp>
      <p:pic>
        <p:nvPicPr>
          <p:cNvPr id="5" name="Picture 4" descr="d5_lazo_posi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63" y="1627632"/>
            <a:ext cx="10156969" cy="35112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285232"/>
            <a:ext cx="11073384" cy="768096"/>
          </a:xfrm>
          <a:prstGeom prst="rect">
            <a:avLst/>
          </a:prstGeom>
          <a:solidFill>
            <a:srgbClr val="EA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5285232"/>
            <a:ext cx="109728" cy="768096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285232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43441"/>
                </a:solidFill>
                <a:latin typeface="Calibri"/>
              </a:rPr>
              <a:t>El lazo de posición regula cuánto avanzó el auto a lo largo del camino. La realimentación es el promedio de los dos encoders de tracción; su salida es la potencia del motor.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CONTROL 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El controlador Proporcional-Integral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6903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43441"/>
                </a:solidFill>
                <a:latin typeface="Calibri"/>
              </a:rPr>
              <a:t>Acción proporcional (P):  </a:t>
            </a:r>
            <a:r>
              <a:rPr sz="1550" b="0" i="0">
                <a:solidFill>
                  <a:srgbClr val="1D3557"/>
                </a:solidFill>
                <a:latin typeface="Consolas"/>
              </a:rPr>
              <a:t>u_P = Kp · e</a:t>
            </a:r>
          </a:p>
          <a:p>
            <a:pPr marL="310896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B06618"/>
                </a:solidFill>
                <a:latin typeface="Calibri"/>
              </a:rPr>
              <a:t>–  </a:t>
            </a:r>
            <a:r>
              <a:rPr sz="1450" b="0" i="0">
                <a:solidFill>
                  <a:srgbClr val="5C6B79"/>
                </a:solidFill>
                <a:latin typeface="Calibri"/>
              </a:rPr>
              <a:t>Responde al error presente. Reacciona rápido, pero por sí sola deja error permanente.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43441"/>
                </a:solidFill>
                <a:latin typeface="Calibri"/>
              </a:rPr>
              <a:t>Acción integral (I):  </a:t>
            </a:r>
            <a:r>
              <a:rPr sz="1550" b="0" i="0">
                <a:solidFill>
                  <a:srgbClr val="1D3557"/>
                </a:solidFill>
                <a:latin typeface="Consolas"/>
              </a:rPr>
              <a:t>u_I = Ki · Σe</a:t>
            </a:r>
          </a:p>
          <a:p>
            <a:pPr marL="310896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B06618"/>
                </a:solidFill>
                <a:latin typeface="Calibri"/>
              </a:rPr>
              <a:t>–  </a:t>
            </a:r>
            <a:r>
              <a:rPr sz="1450" b="0" i="0">
                <a:solidFill>
                  <a:srgbClr val="5C6B79"/>
                </a:solidFill>
                <a:latin typeface="Calibri"/>
              </a:rPr>
              <a:t>Acumula el error pasado. Elimina el error permanente: mientras quede error, sigue creciendo.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La suma P + I combina respuesta rápida y exactitud en régimen permanente.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No se usa término derivativo (D): amplifica el ruido de los sensores y el sistema, lento y sobreamortiguado, no lo necesita.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783080"/>
            <a:ext cx="3886200" cy="41605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783080"/>
            <a:ext cx="109728" cy="4160520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7" y="212140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B66E"/>
                </a:solidFill>
                <a:latin typeface="Calibri"/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505456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P para reaccionar, I para no quedar corto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3767328"/>
            <a:ext cx="31729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DBE5"/>
                </a:solidFill>
                <a:latin typeface="Calibri"/>
              </a:rPr>
              <a:t>El proporcional da velocidad de respuesta; el integral garantiza que, en régimen, el auto efectivamente llegue a la referencia. Sin I quedaría siempre un poco atrás.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CONTROL 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El PI en el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6858000" cy="4297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6492240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# --- main_rs.py : dentro del lazo de control ---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# Errores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position_error = position_reference - position_vehicle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steering_error = degrees(steering_reference) - steering_vehicle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# Accion de POSICION (traccion), PI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position_P  = GAINS['kp_pos'] * position_error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position_I += GAINS['ki_pos'] * position_error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position_command = saturate(position_P + position_I,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                        max_drive_power)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# Accion de DIRECCION (steering), PI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steering_P  = GAINS['kp_st'] * steering_error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steering_I += GAINS['ki_st'] * steering_error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steering_command = gear * saturate(steering_P + steering_I,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                               max_angle_power)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1733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5C6B79"/>
                </a:solidFill>
                <a:latin typeface="Calibri"/>
              </a:rPr>
              <a:t>saturate() recorta cada comando a ±100 y lo devuelve entero.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7536" y="1828800"/>
            <a:ext cx="397123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Cada controlador queda en tres líneas: P, I (acumulador con +=) y el comando.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saturate() recorta a ±100 y entrega entero: una sola función para los dos lazos.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El error de rumbo compara grados con grados (referencia convertida con degrees()).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steering_command se multiplica por gear: en marcha atrás se invierte la corrección.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>
                <a:solidFill>
                  <a:srgbClr val="243441"/>
                </a:solidFill>
                <a:latin typeface="Calibri"/>
              </a:rPr>
              <a:t>Ganancias semilla en controlConstants.py (Kp=50, Ki=0,01); el dashboard las ajusta por ensayo.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GENERACIÓN DE 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D3557"/>
                </a:solidFill>
                <a:latin typeface="Georgia"/>
              </a:rPr>
              <a:t>El generador de referencias en el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6858000" cy="4297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6492240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# main_rs.py  ·  Euler explicito  ·  por segmento (1 vez):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delta_s = h * v / 1000.0       # avance por tick (h=1ms)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N_seg   = ceil(distance / delta_s)     # ticks enteros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ds_seg  = distance / N_seg     # paso que cierra justo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head0   = steering_reference   # rumbo al entrar al tramo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# ... dentro del lazo, en cada tick: ...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if ref_ticks &lt; N_seg: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    ref_ticks +=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    if ref_ticks &lt; N_seg:          # avanza ds_seg exacto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        position_reference += gear * ds_seg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        steering_reference += gear * steer_dir * ds_seg / r_turn_min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    else:                          # ultimo tick: fija el fin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        position_reference = gear * distance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D3557"/>
                </a:solidFill>
                <a:latin typeface="Consolas"/>
              </a:rPr>
              <a:t xml:space="preserve">        steering_reference = head0 + gear*steer_dir*distance/r_turn_min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1733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5C6B79"/>
                </a:solidFill>
                <a:latin typeface="Calibri"/>
              </a:rPr>
              <a:t>El generador de referencias: dos integradores de Euler discretos dentro del mismo lazo de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7536" y="1828800"/>
            <a:ext cx="397123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El estado se integra por el método de Euler explícito, con paso fijo h (el período del timer).</a:t>
            </a:r>
          </a:p>
          <a:p>
            <a: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El tramo se cuantiza en N = ceil(distancia / Δs) ticks enteros del timer.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El paso de arco se recalcula ds = distancia / N: cae exacto al final del tramo.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r_pos integra distancia; r_head integra rumbo (dθ = ds/R, R = r_turn_min). gear da el signo.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En un tramo recto steer_dir = 0: el rumbo de referencia queda constante.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El último tick fija la referencia en el valor exacto: sin overshoot ni deriva de rumbo entre tramos.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GENERACIÓN DE 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Las referencias en el tiempo</a:t>
            </a:r>
          </a:p>
        </p:txBody>
      </p:sp>
      <p:pic>
        <p:nvPicPr>
          <p:cNvPr id="5" name="Picture 4" descr="d14_referen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91640"/>
            <a:ext cx="6365012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35040"/>
            <a:ext cx="6720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C6B79"/>
                </a:solidFill>
                <a:latin typeface="Calibri"/>
              </a:rPr>
              <a:t>Salida del generador de referencias del vehículo virtual.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41148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Simulación del generador para la trayectoria de ejemplo (0,0,0°)→(120,60,−90°).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r_pos: una rampa por segmento. Se reinicia a cero al empezar cada segmento C/S/C.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r_head: señal continua en todo el ensayo. No se reinicia entre segmentos.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En los tramos curvos r_head es una rampa; en los rectos sería un tramo plano.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La pendiente de cada rampa de r_head depende del radio y del sentido de giro.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4956048"/>
            <a:ext cx="4096512" cy="10241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4956048"/>
            <a:ext cx="91440" cy="1024128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4956048"/>
            <a:ext cx="370332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r_pos se reinicia por segmento; r_head se acumula en todo el ensayo. Por eso los encoders se ponen a cero por segmento y la IMU sólo al inicio.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SENSORES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Dos sensores, dos lazos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5413248" cy="566928"/>
          </a:xfrm>
          <a:prstGeom prst="rect">
            <a:avLst/>
          </a:prstGeom>
          <a:solidFill>
            <a:srgbClr val="EA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109728" cy="566928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78308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557"/>
                </a:solidFill>
                <a:latin typeface="Georgia"/>
              </a:rPr>
              <a:t>IMU — rumbo / heading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78608"/>
            <a:ext cx="5230368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Mide el rumbo absoluto del vehículo (orientación).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Integrada en el hub LEGO Technic.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Cierra el lazo de dirección.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Se lee con hub.imu.heading(), en grados.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Se pone a cero una vez, al inicio de la trayectoria.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2784" y="1783080"/>
            <a:ext cx="5413248" cy="566928"/>
          </a:xfrm>
          <a:prstGeom prst="rect">
            <a:avLst/>
          </a:prstGeom>
          <a:solidFill>
            <a:srgbClr val="EA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72784" y="1783080"/>
            <a:ext cx="109728" cy="566928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557"/>
                </a:solidFill>
                <a:latin typeface="Georgia"/>
              </a:rPr>
              <a:t>Encoders — avance / odometría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578608"/>
            <a:ext cx="5230368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Miden el ángulo girado por cada motor de tracción.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Uno por cada motor (delantero y trasero).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Cierran el lazo de posición.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Se leen con front.angle() y rear.angle(), en grados.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Se ponen a cero al inicio de cada segmento.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SENSORES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De pulsos a centímetros: odometría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6858000" cy="4297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6492240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D3557"/>
                </a:solidFill>
                <a:latin typeface="Consolas"/>
              </a:rPr>
              <a:t># main_rs.py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D3557"/>
                </a:solidFill>
                <a:latin typeface="Consolas"/>
              </a:rPr>
              <a:t>ANGLE_TO_CM = 0.045    # cm por grado de rueda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D355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D3557"/>
                </a:solidFill>
                <a:latin typeface="Consolas"/>
              </a:rPr>
              <a:t># al empezar cada segmento, los encoders a cero: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D3557"/>
                </a:solidFill>
                <a:latin typeface="Consolas"/>
              </a:rPr>
              <a:t>front.reset_angle(0)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D3557"/>
                </a:solidFill>
                <a:latin typeface="Consolas"/>
              </a:rPr>
              <a:t>rear.reset_angle(0)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D355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D3557"/>
                </a:solidFill>
                <a:latin typeface="Consolas"/>
              </a:rPr>
              <a:t># posicion = promedio de los dos encoders, en cm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D3557"/>
                </a:solidFill>
                <a:latin typeface="Consolas"/>
              </a:rPr>
              <a:t>position_vehicle = 0.5 * (front.angle() + rear.angle()) \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D3557"/>
                </a:solidFill>
                <a:latin typeface="Consolas"/>
              </a:rPr>
              <a:t>                       * ANGLE_TO_CM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1733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C6B79"/>
                </a:solidFill>
                <a:latin typeface="Calibri"/>
              </a:rPr>
              <a:t>Odometría: el avance del auto medido como promedio de los dos encoders.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7536" y="1828800"/>
            <a:ext cx="397123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Pybricks ya entrega la cuenta del encoder resuelta: Motor.angle() devuelve grados acumulados.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El factor ANGLE_TO_CM convierte grados de rueda en centímetros recorridos.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Se promedian los dos motores de tracción: filtra pequeñas diferencias entre ruedas.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Reset por segmento: la posición de referencia también arranca de cero en cada segmento.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ACTUADORES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Cómo se comandan los motores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6858000" cy="4297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6492240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# main_rs.py  ·  configuracion del hardware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from pybricks.robotics import Car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from pybricks.pupdevices import Motor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steering = Motor(Port.D, Direction.CLOCKWISE)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front    = Motor(Port.B, Direction.CLOCKWISE)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rear     = Motor(Port.A, Direction.CLOCKWISE)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audi     = Car(steering, [front, rear])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# ... dentro del lazo de control: ...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audi.steer(steering_command)        # -100..100 direccion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audi.drive_power(position_command)  # -100..100 traccion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if rear.stalled() or front.stalled():   # motor trabado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1D3557"/>
                </a:solidFill>
                <a:latin typeface="Consolas"/>
              </a:rPr>
              <a:t>    stop_car()              # frena traccion y direccion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1733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C6B79"/>
                </a:solidFill>
                <a:latin typeface="Calibri"/>
              </a:rPr>
              <a:t>El control entrega dos números por ciclo; Pybricks los traduce en movimiento.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7536" y="1828800"/>
            <a:ext cx="397123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Tres motores iguales: dos de tracción (A, B) y uno de dirección (D).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El encoder integrado hace que cada motor de tracción sea también sensor.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steer() posiciona las ruedas; drive_power() fija la potencia de avance.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>
                <a:solidFill>
                  <a:srgbClr val="243441"/>
                </a:solidFill>
                <a:latin typeface="Calibri"/>
              </a:rPr>
              <a:t>stalled() detecta motor bloqueado y llama a stop_car(): frena tracción y dirección de una.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REEDS-SHEPP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Dubins y Reeds-Shepp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5413248" cy="566928"/>
          </a:xfrm>
          <a:prstGeom prst="rect">
            <a:avLst/>
          </a:prstGeom>
          <a:solidFill>
            <a:srgbClr val="EA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109728" cy="566928"/>
          </a:xfrm>
          <a:prstGeom prst="rect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78308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557"/>
                </a:solidFill>
                <a:latin typeface="Georgia"/>
              </a:rPr>
              <a:t>Curvas de Dubins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78608"/>
            <a:ext cx="5230368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Camino más corto entre dos poses con radio de giro mínimo.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Sólo movimiento hacia adelante.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El vehículo no puede dar marcha atrás.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Útil para aviones o vehículos que no reversan.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Es un caso particular de Reeds-Shepp.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2784" y="1783080"/>
            <a:ext cx="5413248" cy="566928"/>
          </a:xfrm>
          <a:prstGeom prst="rect">
            <a:avLst/>
          </a:prstGeom>
          <a:solidFill>
            <a:srgbClr val="EA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72784" y="1783080"/>
            <a:ext cx="109728" cy="566928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557"/>
                </a:solidFill>
                <a:latin typeface="Georgia"/>
              </a:rPr>
              <a:t>Curvas de Reeds-Shepp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578608"/>
            <a:ext cx="5230368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Camino más corto admitiendo también marcha atrás.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Aparecen los 'cusps': puntos donde se invierte el sentido.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Mucho más flexibles para maniobrar en poco espacio.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Es el caso general: incluye a Dubins.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Es el que usa este proyecto.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REEDS-SHEPP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Cómo se elige el camino óptimo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6858000" cy="4297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6492240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6A826A"/>
                </a:solidFill>
                <a:latin typeface="Consolas"/>
              </a:rPr>
              <a:t># reeds_shepp.py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243441"/>
                </a:solidFill>
                <a:latin typeface="Consolas"/>
              </a:rPr>
              <a:t>def get_all_paths(start, end):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6A826A"/>
                </a:solidFill>
                <a:latin typeface="Consolas"/>
              </a:rPr>
              <a:t>    # 12 familias x 4 variantes (timeflip, reflect)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6A826A"/>
                </a:solidFill>
                <a:latin typeface="Consolas"/>
              </a:rPr>
              <a:t>    # cada funcion path1..path12 prueba una familia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243441"/>
                </a:solidFill>
                <a:latin typeface="Consolas"/>
              </a:rPr>
              <a:t>    ...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243441"/>
                </a:solidFill>
                <a:latin typeface="Consolas"/>
              </a:rPr>
              <a:t>    return paths        # todos los caminos validos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243441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243441"/>
                </a:solidFill>
                <a:latin typeface="Consolas"/>
              </a:rPr>
              <a:t>def get_optimal_path(paths):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243441"/>
                </a:solidFill>
                <a:latin typeface="Consolas"/>
              </a:rPr>
              <a:t>    min_distance = infinito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243441"/>
                </a:solidFill>
                <a:latin typeface="Consolas"/>
              </a:rPr>
              <a:t>    for i, path in enumerate(paths):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6A826A"/>
                </a:solidFill>
                <a:latin typeface="Consolas"/>
              </a:rPr>
              <a:t>        # longitud total = suma de los segmentos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243441"/>
                </a:solidFill>
                <a:latin typeface="Consolas"/>
              </a:rPr>
              <a:t>        d = sum(seg['distance'] for seg in path)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243441"/>
                </a:solidFill>
                <a:latin typeface="Consolas"/>
              </a:rPr>
              <a:t>        if d &lt; min_distance: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243441"/>
                </a:solidFill>
                <a:latin typeface="Consolas"/>
              </a:rPr>
              <a:t>            min_distance = d; idx = i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250">
                <a:solidFill>
                  <a:srgbClr val="243441"/>
                </a:solidFill>
                <a:latin typeface="Consolas"/>
              </a:rPr>
              <a:t>    return idx          # el mas corto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1733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C6B79"/>
                </a:solidFill>
                <a:latin typeface="Calibri"/>
              </a:rPr>
              <a:t>reeds_shepp.py — se generan todos los caminos y se elige el más corto.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7536" y="1828800"/>
            <a:ext cx="397123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Para cada par de poses se generan todos los caminos posibles: 12 familias por 4 variantes geométricas.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Cada variante se obtiene reflejando o invirtiendo el tiempo (timeflip, reflect): truco para no escribir 48 fórmulas.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El criterio de óptimo es simple: menor longitud total.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El camino elegido se escala al radio real y se entrega al generador de referencias.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Resultado de la simulación</a:t>
            </a:r>
          </a:p>
        </p:txBody>
      </p:sp>
      <p:pic>
        <p:nvPicPr>
          <p:cNvPr id="5" name="Picture 4" descr="d13_sim_trayecto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51714"/>
            <a:ext cx="6720840" cy="35775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674965"/>
            <a:ext cx="6720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C6B79"/>
                </a:solidFill>
                <a:latin typeface="Calibri"/>
              </a:rPr>
              <a:t>Simulación generada con reeds_shepp.py — la misma lógica que corre en el 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41148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Trayectoria óptima de Reeds-Shepp calculada con el algoritmo del proyecto.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Pose inicial (0,0,0°), pose final (120,60,−90°).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El camino combina tramos hacia adelante (verde) y un tramo en marcha atrás (naranja).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Las siluetas muestran al auto y su rumbo a lo largo del recorrido.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El auto llega exactamente a la pose final pedida: el algoritmo es correcto.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4956048"/>
            <a:ext cx="4096512" cy="10241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4956048"/>
            <a:ext cx="91440" cy="1024128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4956048"/>
            <a:ext cx="370332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Esta figura se generó con el código real del repositorio: no es un dibujo, es la salida verificada del algoritmo.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El bucle de control en tiempo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6858000" cy="4297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6492240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# main_rs.py  ·  controlDelVehiculo()  (esquema)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while abs(position_vehicle) &lt;= distance and not timeout: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if read_command() == 'STOP':      # parada de emergencia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    return 'stop'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if rear.stalled() or front.stalled():   # motor trabado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    return 'stall'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# 1 - avanzar las referencias   (r_pos, r_head)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# 2 - leer sensores             (encoders + IMU)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# 3 - calcular errores y accion PI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# 4 - saturar y aplicar a los motores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audi.steer(steering_command)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audi.drive_power(position_command)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wait(h)                          # h = 1 ms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D3557"/>
                </a:solidFill>
                <a:latin typeface="Consolas"/>
              </a:rPr>
              <a:t>    elapsed_time +=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1733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C6B79"/>
                </a:solidFill>
                <a:latin typeface="Calibri"/>
              </a:rPr>
              <a:t>controlDelVehiculo() — un segmento C/S/C por llamada.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7536" y="1828800"/>
            <a:ext cx="3971239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Un único lazo, period fijo de 1 ms, repite cuatro pasos: referencia, medición, control, actuación.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El lazo termina cuando el auto recorrió la distancia del segmento (o por watchdog de tiempo).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Las verificaciones de STOP y de motor trabado están al principio: la seguridad se chequea antes que nada.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2C6E8F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3441"/>
                </a:solidFill>
                <a:latin typeface="Calibri"/>
              </a:rPr>
              <a:t>Es la estructura clásica de un lazo de control embebido.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Seguridad y robustez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6903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Watchdog de tiempo: cada segmento tiene un tiempo máximo (30 s); si se excede, el ensayo termina con 'timeout'.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Detección de motor bloqueado: stalled() corta tracción y dirección si el auto se traba.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Parada de emergencia: el comando STOP del dashboard se atiende dentro del lazo, en cada iteración.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Gestión de memoria: gc.collect() libera memoria entre tramos — el hub tiene RAM muy limitada.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El planificador puede no encontrar solución: ese caso se detecta y se informa, no se ignora.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Cada ensayo termina siempre con un estado explícito: ok, stop, stall, timeout o error.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783080"/>
            <a:ext cx="3886200" cy="41605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783080"/>
            <a:ext cx="109728" cy="4160520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7" y="212140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B66E"/>
                </a:solidFill>
                <a:latin typeface="Calibri"/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505456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Un sistema embebido tiene que fallar de forma segura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3767328"/>
            <a:ext cx="31729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DBE5"/>
                </a:solidFill>
                <a:latin typeface="Calibri"/>
              </a:rPr>
              <a:t>No alcanza con que ande cuando todo sale bien. Watchdog, detección de bloqueo y parada de emergencia definen qué pasa cuando algo sale mal.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¿Cómo sabemos que el sistema funciona?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6903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Criterio visual: en el dashboard, la trayectoria real debe superponerse a la planificada.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Criterio cuantitativo: error RMS de posición y de rumbo durante todo el ensayo.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Error máximo: el peor apartamiento respecto de la referencia — importante cerca de los cusps.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Estado final del ensayo: debe terminar en 'ok', no en stall ni timeout.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Pose final: el auto debe quedar en la pose pedida, dentro de una tolerancia.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2C6E8F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3441"/>
                </a:solidFill>
                <a:latin typeface="Calibri"/>
              </a:rPr>
              <a:t>Comparación contra la simulación: la trayectoria real no debería alejarse de la simulada.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783080"/>
            <a:ext cx="3886200" cy="41605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783080"/>
            <a:ext cx="109728" cy="4160520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7" y="212140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B66E"/>
                </a:solidFill>
                <a:latin typeface="Calibri"/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505456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Medir, no opinar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3767328"/>
            <a:ext cx="31729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DBE5"/>
                </a:solidFill>
                <a:latin typeface="Calibri"/>
              </a:rPr>
              <a:t>'Anda bien' no es un criterio. RMS, error máximo y estado final sí lo son. El dashboard los calcula automáticamente al cerrar cada ensayo.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Limitaciones y mejoras posibles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6903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Anti-windup explícito: congelar el integral mientras el comando está saturado.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Velocidad constante: hoy v es fija; desacelerar cerca de los cusps mejoraría la precisión.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Deriva de la IMU: en recorridos largos convendría corregir el rumbo.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Odometría sin corrección: los encoders no detectan deslizamiento de las ruedas.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Convención de signo: el simulador MATLAB y el código del hub usan signos opuestos en la integración del rumbo — conviene unificar y documentar.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Sin evitación de obstáculos: el planificador asume el espacio libre.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Seguimiento de pose con cross-track y feedforward de curvatura: hoy el lazo de rumbo no corrige el desvío lateral respecto de la traza.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Tracción en cascada (posición → velocidad → motor): hoy el comando es potencia y la velocidad efectiva varía con la carga y la batería.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783080"/>
            <a:ext cx="3886200" cy="41605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783080"/>
            <a:ext cx="109728" cy="4160520"/>
          </a:xfrm>
          <a:prstGeom prst="rect">
            <a:avLst/>
          </a:prstGeom>
          <a:solidFill>
            <a:srgbClr val="B06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7" y="212140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B66E"/>
                </a:solidFill>
                <a:latin typeface="Calibri"/>
              </a:rPr>
              <a:t>IDEA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505456"/>
            <a:ext cx="320954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Conocer los límites es parte del diseño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3767328"/>
            <a:ext cx="31729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FDBE5"/>
                </a:solidFill>
                <a:latin typeface="Calibri"/>
              </a:rPr>
              <a:t>Ninguna de estas limitaciones impide que el sistema funcione. Pero tenerlas identificadas es lo que permite mejorarlo con criterio.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C6E8F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D3557"/>
                </a:solidFill>
                <a:latin typeface="Georgia"/>
              </a:rPr>
              <a:t>Referencias y material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9728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Reeds, J. A. &amp; Shepp, L. A. (1990). Optimal paths for a car that goes both forwards and backwards. Pacific Journal of Mathematics, 145(2).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Dubins, L. E. (1957). On curves of minimal length with a constraint on average curvature. American Journal of Mathematics.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Implementación de referencia de Reeds-Shepp: repositorio de N. Lecointe (github.com/nathanlct/reeds-shepp-curves).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Pedroni, J. P. Práctico de Laboratorio N°2 — Decodificación de encoder incremental (material de cátedra).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Documentación de Pybricks: pybricks.com — API de motores, IMU y robótica.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Geometría de Ackermann: artículo de Wikipedia 'Ackermann steering geometry'.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3441"/>
                </a:solidFill>
                <a:latin typeface="Calibri"/>
              </a:rPr>
              <a:t>Código del proyecto: main_rs.py, reeds_shepp.py, dashboard.html y la carpeta Matlab/ del repositorio.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>
                <a:solidFill>
                  <a:srgbClr val="243441"/>
                </a:solidFill>
                <a:latin typeface="Calibri"/>
              </a:rPr>
              <a:t>Giese, A. (2012). A Comprehensive, Step-by-Step Tutorial on Computing Dubin's Curves.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>
                <a:solidFill>
                  <a:srgbClr val="243441"/>
                </a:solidFill>
                <a:latin typeface="Calibri"/>
              </a:rPr>
              <a:t>Teodovich Sosa, L. J. &amp; Carelli, R. (2008). Control Híbrido para Posicionamiento de un Robot tipo Ackerman. JAR'08, UNS.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C6E8F"/>
                </a:solidFill>
                <a:latin typeface="Calibri"/>
              </a:rPr>
              <a:t>▪  </a:t>
            </a:r>
            <a:r>
              <a:rPr sz="1500" b="0">
                <a:solidFill>
                  <a:srgbClr val="243441"/>
                </a:solidFill>
                <a:latin typeface="Calibri"/>
              </a:rPr>
              <a:t>Ackermann Chassis Kinematics — nota técnica: ángulos de dirección y velocidades por rueda.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3825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9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C6B79"/>
                </a:solidFill>
                <a:latin typeface="Calibri"/>
              </a:rPr>
              <a:t>Auto LEGO · Ackermann + Reeds-Shepp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5899</Words>
  <Application>Microsoft Office PowerPoint</Application>
  <PresentationFormat>Panorámica</PresentationFormat>
  <Paragraphs>461</Paragraphs>
  <Slides>30</Slides>
  <Notes>28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Arial</vt:lpstr>
      <vt:lpstr>Calibri</vt:lpstr>
      <vt:lpstr>Consolas</vt:lpstr>
      <vt:lpstr>Georgia</vt:lpstr>
      <vt:lpstr>Office Theme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Pablo Pedroni</cp:lastModifiedBy>
  <cp:revision>7</cp:revision>
  <dcterms:created xsi:type="dcterms:W3CDTF">2013-01-27T09:14:16Z</dcterms:created>
  <dcterms:modified xsi:type="dcterms:W3CDTF">2026-06-22T18:52:06Z</dcterms:modified>
  <cp:category/>
</cp:coreProperties>
</file>